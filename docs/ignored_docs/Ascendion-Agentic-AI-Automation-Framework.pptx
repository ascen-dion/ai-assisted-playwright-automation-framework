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7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42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6492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Agentic AI Test Automation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0"/>
            <a:ext cx="777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57C00"/>
                </a:solidFill>
                <a:latin typeface="Calibri"/>
              </a:rPr>
              <a:t>One-stop agentic </a:t>
            </a:r>
            <a:r>
              <a:rPr sz="2400" b="1" i="0" dirty="0">
                <a:solidFill>
                  <a:srgbClr val="F57C00"/>
                </a:solidFill>
                <a:latin typeface="Calibri"/>
              </a:rPr>
              <a:t>solution</a:t>
            </a:r>
            <a:r>
              <a:rPr sz="1800" b="1" i="0" dirty="0">
                <a:solidFill>
                  <a:srgbClr val="F57C00"/>
                </a:solidFill>
                <a:latin typeface="Calibri"/>
              </a:rPr>
              <a:t> for Web, API &amp; Mobile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7863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CCD5E0"/>
                </a:solidFill>
                <a:latin typeface="Calibri"/>
              </a:rPr>
              <a:t>Ascendion</a:t>
            </a:r>
            <a:r>
              <a:rPr sz="1600" b="0" i="0" dirty="0">
                <a:solidFill>
                  <a:srgbClr val="CCD5E0"/>
                </a:solidFill>
                <a:latin typeface="Calibri"/>
              </a:rPr>
              <a:t> QE Circle Innovation — transforming fragmented automation
into a governed, traceable, self-healing enterprise delivery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754880"/>
            <a:ext cx="4361688" cy="914400"/>
          </a:xfrm>
          <a:prstGeom prst="rect">
            <a:avLst/>
          </a:prstGeom>
          <a:solidFill>
            <a:srgbClr val="0E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892040"/>
            <a:ext cx="4700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B0C4DE"/>
                </a:solidFill>
                <a:latin typeface="Calibri"/>
              </a:rPr>
              <a:t>Viplove  |  </a:t>
            </a:r>
            <a:r>
              <a:rPr b="0" i="0" dirty="0" err="1">
                <a:solidFill>
                  <a:srgbClr val="B0C4DE"/>
                </a:solidFill>
                <a:latin typeface="Calibri"/>
              </a:rPr>
              <a:t>Ascendion</a:t>
            </a:r>
            <a:r>
              <a:rPr b="0" i="0" dirty="0">
                <a:solidFill>
                  <a:srgbClr val="B0C4DE"/>
                </a:solidFill>
                <a:latin typeface="Calibri"/>
              </a:rPr>
              <a:t> QE Circle  |  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731520"/>
            <a:ext cx="3566160" cy="5303520"/>
          </a:xfrm>
          <a:prstGeom prst="rect">
            <a:avLst/>
          </a:prstGeom>
          <a:solidFill>
            <a:srgbClr val="0E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0" y="969264"/>
            <a:ext cx="3200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CD5E0"/>
                </a:solidFill>
                <a:latin typeface="Calibri"/>
              </a:rPr>
              <a:t>🌐  Web Automation</a:t>
            </a:r>
            <a:endParaRPr lang="en-US" sz="2000" b="0" i="0" dirty="0">
              <a:solidFill>
                <a:srgbClr val="CCD5E0"/>
              </a:solidFill>
              <a:latin typeface="Calibri"/>
            </a:endParaRPr>
          </a:p>
          <a:p>
            <a:pPr algn="l"/>
            <a:r>
              <a:rPr sz="2000" b="0" i="0" dirty="0">
                <a:solidFill>
                  <a:srgbClr val="CCD5E0"/>
                </a:solidFill>
                <a:latin typeface="Calibri"/>
              </a:rPr>
              <a:t>
📱  Mobile Automation</a:t>
            </a:r>
            <a:endParaRPr lang="en-US" sz="2000" b="0" i="0" dirty="0">
              <a:solidFill>
                <a:srgbClr val="CCD5E0"/>
              </a:solidFill>
              <a:latin typeface="Calibri"/>
            </a:endParaRPr>
          </a:p>
          <a:p>
            <a:pPr algn="l"/>
            <a:r>
              <a:rPr sz="2000" b="0" i="0" dirty="0">
                <a:solidFill>
                  <a:srgbClr val="CCD5E0"/>
                </a:solidFill>
                <a:latin typeface="Calibri"/>
              </a:rPr>
              <a:t>
🔌  API Orchestration</a:t>
            </a:r>
            <a:endParaRPr lang="en-US" sz="2000" b="0" i="0" dirty="0">
              <a:solidFill>
                <a:srgbClr val="CCD5E0"/>
              </a:solidFill>
              <a:latin typeface="Calibri"/>
            </a:endParaRPr>
          </a:p>
          <a:p>
            <a:pPr algn="l"/>
            <a:r>
              <a:rPr sz="2000" b="0" i="0" dirty="0">
                <a:solidFill>
                  <a:srgbClr val="CCD5E0"/>
                </a:solidFill>
                <a:latin typeface="Calibri"/>
              </a:rPr>
              <a:t>
🤖  Agentic AI Agents</a:t>
            </a:r>
            <a:endParaRPr lang="en-US" sz="2000" b="0" i="0" dirty="0">
              <a:solidFill>
                <a:srgbClr val="CCD5E0"/>
              </a:solidFill>
              <a:latin typeface="Calibri"/>
            </a:endParaRPr>
          </a:p>
          <a:p>
            <a:pPr algn="l"/>
            <a:r>
              <a:rPr sz="2000" b="0" i="0" dirty="0">
                <a:solidFill>
                  <a:srgbClr val="CCD5E0"/>
                </a:solidFill>
                <a:latin typeface="Calibri"/>
              </a:rPr>
              <a:t>
🔁  Self-Healing Loop</a:t>
            </a:r>
            <a:endParaRPr lang="en-US" sz="2000" b="0" i="0" dirty="0">
              <a:solidFill>
                <a:srgbClr val="CCD5E0"/>
              </a:solidFill>
              <a:latin typeface="Calibri"/>
            </a:endParaRPr>
          </a:p>
          <a:p>
            <a:pPr algn="l"/>
            <a:r>
              <a:rPr sz="2000" b="0" i="0" dirty="0">
                <a:solidFill>
                  <a:srgbClr val="CCD5E0"/>
                </a:solidFill>
                <a:latin typeface="Calibri"/>
              </a:rPr>
              <a:t>
📊  Enterprise Reporting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C"/>
                </a:solidFill>
                <a:latin typeface="Calibri"/>
              </a:rPr>
              <a:t>© 2026 Ascendion  |  QE Circle Innovation  |  Confidential</a:t>
            </a:r>
          </a:p>
        </p:txBody>
      </p:sp>
      <p:pic>
        <p:nvPicPr>
          <p:cNvPr id="2050" name="Picture 2" descr="Who we are | Ascendion">
            <a:extLst>
              <a:ext uri="{FF2B5EF4-FFF2-40B4-BE49-F238E27FC236}">
                <a16:creationId xmlns:a16="http://schemas.microsoft.com/office/drawing/2014/main" id="{C2B0FD05-AC1A-368F-E3F0-A96B37788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768" y="4032504"/>
            <a:ext cx="3081528" cy="163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85800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Problem — Fragmented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1945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2194560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2011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A3B"/>
                </a:solidFill>
                <a:latin typeface="Calibri"/>
              </a:rPr>
              <a:t>Requirements →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20116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F2937"/>
                </a:solidFill>
                <a:latin typeface="Calibri"/>
              </a:rPr>
              <a:t>Manual effort to convert Jira stories into structured test cases. No standard, no traceability, no speed.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914400"/>
            <a:ext cx="21945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2606040" y="914400"/>
            <a:ext cx="2194560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2697480" y="1051560"/>
            <a:ext cx="2011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A3B"/>
                </a:solidFill>
                <a:latin typeface="Calibri"/>
              </a:rPr>
              <a:t>Script 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554480"/>
            <a:ext cx="20116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Automation engineers write scripts from scratch for every story. Reuse is minimal; selectors break constantly.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914400"/>
            <a:ext cx="21945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Rectangle 13"/>
          <p:cNvSpPr/>
          <p:nvPr/>
        </p:nvSpPr>
        <p:spPr>
          <a:xfrm>
            <a:off x="4937760" y="914400"/>
            <a:ext cx="2194560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5029200" y="1051560"/>
            <a:ext cx="2011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A3B"/>
                </a:solidFill>
                <a:latin typeface="Calibri"/>
              </a:rPr>
              <a:t>Web vs Mobile vs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554480"/>
            <a:ext cx="20116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Separate tools, separate teams, separate pipelines. No unified framework or shared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914400"/>
            <a:ext cx="21945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Rectangle 17"/>
          <p:cNvSpPr/>
          <p:nvPr/>
        </p:nvSpPr>
        <p:spPr>
          <a:xfrm>
            <a:off x="7269480" y="914400"/>
            <a:ext cx="2194560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7360920" y="1051560"/>
            <a:ext cx="2011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A3B"/>
                </a:solidFill>
                <a:latin typeface="Calibri"/>
              </a:rPr>
              <a:t>Maintenance Burden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554480"/>
            <a:ext cx="20116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Every app change breaks selectors. Triage is manual, slow, and burns QE capacity.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914400"/>
            <a:ext cx="21945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Rectangle 21"/>
          <p:cNvSpPr/>
          <p:nvPr/>
        </p:nvSpPr>
        <p:spPr>
          <a:xfrm>
            <a:off x="9601200" y="914400"/>
            <a:ext cx="2194560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9692640" y="1051560"/>
            <a:ext cx="2011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A3B"/>
                </a:solidFill>
                <a:latin typeface="Calibri"/>
              </a:rPr>
              <a:t>Reporting &amp;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1554480"/>
            <a:ext cx="20116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Results scattered across CI logs, TestRail, and Jira. No end-to-end visibility from requirement to result.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182880" y="6565392"/>
            <a:ext cx="11823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8CC"/>
                </a:solidFill>
                <a:latin typeface="Calibri"/>
              </a:rPr>
              <a:t>© 2026 Ascendion  |  QE Circle Innovation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85800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TextBox 3"/>
          <p:cNvSpPr txBox="1"/>
          <p:nvPr/>
        </p:nvSpPr>
        <p:spPr>
          <a:xfrm>
            <a:off x="608012" y="280785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Solution — One-Stop Agentic Automation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8778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274320" y="1115568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LAYER 1 —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96926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Web UI / IDE Agent / Jira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3716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6B7280"/>
                </a:solidFill>
                <a:latin typeface="Calibri"/>
              </a:rPr>
              <a:t>Story + Platform + Context → </a:t>
            </a:r>
            <a:r>
              <a:rPr sz="1400" b="0" i="1" dirty="0" err="1">
                <a:solidFill>
                  <a:srgbClr val="6B7280"/>
                </a:solidFill>
                <a:latin typeface="Calibri"/>
              </a:rPr>
              <a:t>Normalised</a:t>
            </a:r>
            <a:r>
              <a:rPr sz="1400" b="0" i="1" dirty="0">
                <a:solidFill>
                  <a:srgbClr val="6B7280"/>
                </a:solidFill>
                <a:latin typeface="Calibri"/>
              </a:rPr>
              <a:t> Test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1188720"/>
            <a:ext cx="54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D4ED8"/>
                </a:solidFill>
                <a:latin typeface="Calibri"/>
              </a:rPr>
              <a:t>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47088"/>
            <a:ext cx="11640312" cy="8778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274320" y="2048256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LAYER 2 —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90195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application.md  ·  domain.md  ·  framework.md  ·  platform.md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304288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6B7280"/>
                </a:solidFill>
                <a:latin typeface="Calibri"/>
              </a:rPr>
              <a:t>Platform Resolver → selects Playwright (Web) or </a:t>
            </a:r>
            <a:r>
              <a:rPr sz="1400" b="0" i="1" dirty="0" err="1">
                <a:solidFill>
                  <a:srgbClr val="6B7280"/>
                </a:solidFill>
                <a:latin typeface="Calibri"/>
              </a:rPr>
              <a:t>Mobilewright</a:t>
            </a:r>
            <a:r>
              <a:rPr sz="1400" b="0" i="1" dirty="0">
                <a:solidFill>
                  <a:srgbClr val="6B7280"/>
                </a:solidFill>
                <a:latin typeface="Calibri"/>
              </a:rPr>
              <a:t> (Android/iOS)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2121408"/>
            <a:ext cx="54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  <a:latin typeface="Calibri"/>
              </a:rPr>
              <a:t>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79776"/>
            <a:ext cx="11640312" cy="8778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Rounded Rectangle 15"/>
          <p:cNvSpPr/>
          <p:nvPr/>
        </p:nvSpPr>
        <p:spPr>
          <a:xfrm>
            <a:off x="274320" y="2980944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066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LAYER 3 — 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83464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Planner Agent  ·  Generator Agent  ·  Healer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236976"/>
            <a:ext cx="7461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6B7280"/>
                </a:solidFill>
                <a:latin typeface="Calibri"/>
              </a:rPr>
              <a:t>Multi-framework code gen (POM) powered by Claude Opus / GPT-5 / Sonnet 4.6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3054096"/>
            <a:ext cx="54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6F41"/>
                </a:solidFill>
                <a:latin typeface="Calibri"/>
              </a:rPr>
              <a:t>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12464"/>
            <a:ext cx="11640312" cy="8778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Rounded Rectangle 20"/>
          <p:cNvSpPr/>
          <p:nvPr/>
        </p:nvSpPr>
        <p:spPr>
          <a:xfrm>
            <a:off x="274320" y="3913632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LAYER 4 —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767328"/>
            <a:ext cx="68305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F2937"/>
                </a:solidFill>
                <a:latin typeface="Calibri"/>
              </a:rPr>
              <a:t>Playwright (Chrome/WebKit/Firefox)  ·  </a:t>
            </a:r>
            <a:r>
              <a:rPr sz="1400" b="1" i="0" dirty="0" err="1">
                <a:solidFill>
                  <a:srgbClr val="1F2937"/>
                </a:solidFill>
                <a:latin typeface="Calibri"/>
              </a:rPr>
              <a:t>Mobilewright</a:t>
            </a:r>
            <a:r>
              <a:rPr sz="1400" b="1" i="0" dirty="0">
                <a:solidFill>
                  <a:srgbClr val="1F2937"/>
                </a:solidFill>
                <a:latin typeface="Calibri"/>
              </a:rPr>
              <a:t> (Android/iOS emulator &amp; device)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169664"/>
            <a:ext cx="6547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Pass → Update TestRail &amp; Jira  |  Fail → AI Error Analysis → retry with updated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3986784"/>
            <a:ext cx="54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7C00"/>
                </a:solidFill>
                <a:latin typeface="Calibri"/>
              </a:rPr>
              <a:t>▶️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45152"/>
            <a:ext cx="11640312" cy="8778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6" name="Rounded Rectangle 25"/>
          <p:cNvSpPr/>
          <p:nvPr/>
        </p:nvSpPr>
        <p:spPr>
          <a:xfrm>
            <a:off x="274320" y="48463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LAYER 5 —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70001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Playwright HTML  ·  Mobilewright HTML  ·  JSON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102352"/>
            <a:ext cx="6547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6B7280"/>
                </a:solidFill>
                <a:latin typeface="Calibri"/>
              </a:rPr>
              <a:t>TestRail integration  ·  Workflow UI live logs  ·  GitHub Actions step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4919472"/>
            <a:ext cx="54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1A3B"/>
                </a:solidFill>
                <a:latin typeface="Calibri"/>
              </a:rPr>
              <a:t>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1" name="TextBox 30"/>
          <p:cNvSpPr txBox="1"/>
          <p:nvPr/>
        </p:nvSpPr>
        <p:spPr>
          <a:xfrm>
            <a:off x="182880" y="6565392"/>
            <a:ext cx="11823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8CC"/>
                </a:solidFill>
                <a:latin typeface="Calibri"/>
              </a:rPr>
              <a:t>© 2026 Ascendion  |  QE Circle Innovation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85800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Framework Architecture — End-to-End Agentic Workflow</a:t>
            </a:r>
          </a:p>
        </p:txBody>
      </p:sp>
      <p:pic>
        <p:nvPicPr>
          <p:cNvPr id="5" name="Picture 4" descr="Ai assisted automation 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" y="868680"/>
            <a:ext cx="12097385" cy="5577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65392"/>
            <a:ext cx="1182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B8CC"/>
                </a:solidFill>
                <a:latin typeface="Calibri"/>
              </a:rPr>
              <a:t>© 2026 Ascendion  |  QE Circle Innovation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85800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Phase-by-Phase Agent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1554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ectangle 5"/>
          <p:cNvSpPr/>
          <p:nvPr/>
        </p:nvSpPr>
        <p:spPr>
          <a:xfrm>
            <a:off x="731520" y="1005840"/>
            <a:ext cx="54864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1600200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3B"/>
                </a:solidFill>
                <a:latin typeface="Calibri"/>
              </a:rPr>
              <a:t>Load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194560"/>
            <a:ext cx="14173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Reads application.md, domain.md,
framework.md, platform.md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808" y="914400"/>
            <a:ext cx="1554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ectangle 10"/>
          <p:cNvSpPr/>
          <p:nvPr/>
        </p:nvSpPr>
        <p:spPr>
          <a:xfrm>
            <a:off x="2395728" y="1005840"/>
            <a:ext cx="54864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2395728" y="100584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600200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3B"/>
                </a:solidFill>
                <a:latin typeface="Calibri"/>
              </a:rPr>
              <a:t>Audit Assets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194560"/>
            <a:ext cx="1417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Scans existing locators, pages, specs
— reuse before creating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57016" y="914400"/>
            <a:ext cx="1554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ectangle 15"/>
          <p:cNvSpPr/>
          <p:nvPr/>
        </p:nvSpPr>
        <p:spPr>
          <a:xfrm>
            <a:off x="4059936" y="1005840"/>
            <a:ext cx="54864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4059936" y="100584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1600200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3B"/>
                </a:solidFill>
                <a:latin typeface="Calibri"/>
              </a:rPr>
              <a:t>TestRail 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194560"/>
            <a:ext cx="1417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Parses ACs → pushes cases to TestRail
→ embeds [Cxxx] in every test title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21224" y="914400"/>
            <a:ext cx="1554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Rectangle 20"/>
          <p:cNvSpPr/>
          <p:nvPr/>
        </p:nvSpPr>
        <p:spPr>
          <a:xfrm>
            <a:off x="5724144" y="1005840"/>
            <a:ext cx="54864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5724144" y="100584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1600200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3B"/>
                </a:solidFill>
                <a:latin typeface="Calibri"/>
              </a:rPr>
              <a:t>Live Inspect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6" y="2194560"/>
            <a:ext cx="14173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Navigates live app / device, confirms
selectors against real DOM / a11y tree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85432" y="914400"/>
            <a:ext cx="1554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Rectangle 25"/>
          <p:cNvSpPr/>
          <p:nvPr/>
        </p:nvSpPr>
        <p:spPr>
          <a:xfrm>
            <a:off x="7388352" y="1005840"/>
            <a:ext cx="54864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7388352" y="100584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1600200"/>
            <a:ext cx="1417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3B"/>
                </a:solidFill>
                <a:latin typeface="Calibri"/>
              </a:rPr>
              <a:t>Generate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8584" y="2194560"/>
            <a:ext cx="14173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Produces 3 POM files per story:
locators · page object · spec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914400"/>
            <a:ext cx="1554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Rectangle 30"/>
          <p:cNvSpPr/>
          <p:nvPr/>
        </p:nvSpPr>
        <p:spPr>
          <a:xfrm>
            <a:off x="9052560" y="1005840"/>
            <a:ext cx="54864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2" name="TextBox 31"/>
          <p:cNvSpPr txBox="1"/>
          <p:nvPr/>
        </p:nvSpPr>
        <p:spPr>
          <a:xfrm>
            <a:off x="9052560" y="100584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2792" y="1600200"/>
            <a:ext cx="1417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3B"/>
                </a:solidFill>
                <a:latin typeface="Calibri"/>
              </a:rPr>
              <a:t>Execute &amp; Heal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2792" y="2194560"/>
            <a:ext cx="1417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Runs tests; on failure AI analyses
logs + screenshots → retries with fix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13848" y="914400"/>
            <a:ext cx="1554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6" name="Rectangle 35"/>
          <p:cNvSpPr/>
          <p:nvPr/>
        </p:nvSpPr>
        <p:spPr>
          <a:xfrm>
            <a:off x="10716768" y="1005840"/>
            <a:ext cx="548640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7" name="TextBox 36"/>
          <p:cNvSpPr txBox="1"/>
          <p:nvPr/>
        </p:nvSpPr>
        <p:spPr>
          <a:xfrm>
            <a:off x="10716768" y="1005840"/>
            <a:ext cx="54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1600200"/>
            <a:ext cx="1417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3B"/>
                </a:solidFill>
                <a:latin typeface="Calibri"/>
              </a:rPr>
              <a:t>Report &amp; Update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2194560"/>
            <a:ext cx="1417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Pushes results → TestRail + Jira
Emails HTML report → CI step summary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64792" y="1152144"/>
            <a:ext cx="201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7C00"/>
                </a:solidFill>
                <a:latin typeface="Calibr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1152144"/>
            <a:ext cx="201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7C00"/>
                </a:solidFill>
                <a:latin typeface="Calibri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3208" y="1152144"/>
            <a:ext cx="201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7C00"/>
                </a:solidFill>
                <a:latin typeface="Calibr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57416" y="1152144"/>
            <a:ext cx="201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7C00"/>
                </a:solidFill>
                <a:latin typeface="Calibri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21624" y="1152144"/>
            <a:ext cx="201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7C00"/>
                </a:solidFill>
                <a:latin typeface="Calibri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85832" y="1152144"/>
            <a:ext cx="201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7C00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7" name="TextBox 46"/>
          <p:cNvSpPr txBox="1"/>
          <p:nvPr/>
        </p:nvSpPr>
        <p:spPr>
          <a:xfrm>
            <a:off x="182880" y="6565392"/>
            <a:ext cx="11823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8CC"/>
                </a:solidFill>
                <a:latin typeface="Calibri"/>
              </a:rPr>
              <a:t>© 2026 Ascendion  |  QE Circle Innovation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85800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Calibri"/>
              </a:rPr>
              <a:t>Change-Aware Lifecycle — When Requirements Change, Framework Adapts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103120" cy="4114800"/>
          </a:xfrm>
          <a:prstGeom prst="rect">
            <a:avLst/>
          </a:prstGeom>
          <a:solidFill>
            <a:srgbClr val="F4F6F9"/>
          </a:solidFill>
          <a:ln w="1270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7C00"/>
                </a:solidFill>
                <a:latin typeface="Calibri"/>
              </a:rP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3B"/>
                </a:solidFill>
                <a:latin typeface="Calibri"/>
              </a:rPr>
              <a:t>Jira Ticket
Updated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9202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PM updates AC in Jira;
agent detects change automatically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606040"/>
            <a:ext cx="22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7C00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051560"/>
            <a:ext cx="2103120" cy="4114800"/>
          </a:xfrm>
          <a:prstGeom prst="rect">
            <a:avLst/>
          </a:prstGeom>
          <a:solidFill>
            <a:srgbClr val="F4F6F9"/>
          </a:solidFill>
          <a:ln w="1270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2697480" y="1234440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7C00"/>
                </a:solidFill>
                <a:latin typeface="Calibri"/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92024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3B"/>
                </a:solidFill>
                <a:latin typeface="Calibri"/>
              </a:rPr>
              <a:t>Compare with
TestRail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651760"/>
            <a:ext cx="1920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Framework reads current cases;
identifies gaps or conflicts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606040"/>
            <a:ext cx="22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7C0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051560"/>
            <a:ext cx="2103120" cy="4114800"/>
          </a:xfrm>
          <a:prstGeom prst="rect">
            <a:avLst/>
          </a:prstGeom>
          <a:solidFill>
            <a:srgbClr val="F4F6F9"/>
          </a:solidFill>
          <a:ln w="1270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5029200" y="1234440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7C00"/>
                </a:solidFill>
                <a:latin typeface="Calibri"/>
              </a:rPr>
              <a:t>➕➖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92024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3B"/>
                </a:solidFill>
                <a:latin typeface="Calibri"/>
              </a:rPr>
              <a:t>Add / Update /
Delete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651760"/>
            <a:ext cx="1920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New ACs → new TestRail cases
Removed ACs → cases archived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2606040"/>
            <a:ext cx="22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7C0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1051560"/>
            <a:ext cx="2103120" cy="4114800"/>
          </a:xfrm>
          <a:prstGeom prst="rect">
            <a:avLst/>
          </a:prstGeom>
          <a:solidFill>
            <a:srgbClr val="F4F6F9"/>
          </a:solidFill>
          <a:ln w="1270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7360920" y="1234440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7C00"/>
                </a:solidFill>
                <a:latin typeface="Calibri"/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192024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3B"/>
                </a:solidFill>
                <a:latin typeface="Calibri"/>
              </a:rPr>
              <a:t>Update Automation
Scripts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651760"/>
            <a:ext cx="1920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Generator re-runs on changed ACs;
updates POM assets and specs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606040"/>
            <a:ext cx="22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7C0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1051560"/>
            <a:ext cx="2103120" cy="4114800"/>
          </a:xfrm>
          <a:prstGeom prst="rect">
            <a:avLst/>
          </a:prstGeom>
          <a:solidFill>
            <a:srgbClr val="F4F6F9"/>
          </a:solidFill>
          <a:ln w="1270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9692640" y="1234440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7C00"/>
                </a:solidFill>
                <a:latin typeface="Calibri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1920240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3B"/>
                </a:solidFill>
                <a:latin typeface="Calibri"/>
              </a:rPr>
              <a:t>Re-Execute &amp;
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651760"/>
            <a:ext cx="1920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2937"/>
                </a:solidFill>
                <a:latin typeface="Calibri"/>
              </a:rPr>
              <a:t>Runs impacted tests; pushes
results back to Jira &amp; TestRail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486400"/>
            <a:ext cx="11457432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365633" y="5577840"/>
            <a:ext cx="114575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A1A3B"/>
                </a:solidFill>
                <a:latin typeface="Calibri"/>
              </a:rPr>
              <a:t>🔁  Fully traceable: Jira Ticket  →  TestRail Case [</a:t>
            </a:r>
            <a:r>
              <a:rPr sz="1600" b="1" i="0" dirty="0" err="1">
                <a:solidFill>
                  <a:srgbClr val="0A1A3B"/>
                </a:solidFill>
                <a:latin typeface="Calibri"/>
              </a:rPr>
              <a:t>Cxxx</a:t>
            </a:r>
            <a:r>
              <a:rPr sz="1600" b="1" i="0" dirty="0">
                <a:solidFill>
                  <a:srgbClr val="0A1A3B"/>
                </a:solidFill>
                <a:latin typeface="Calibri"/>
              </a:rPr>
              <a:t>]  →  Automation Spec  →  Execution Result  →  Jira</a:t>
            </a:r>
            <a:r>
              <a:rPr lang="en-US" sz="1600" b="1" i="0" dirty="0">
                <a:solidFill>
                  <a:srgbClr val="0A1A3B"/>
                </a:solidFill>
                <a:latin typeface="Calibri"/>
              </a:rPr>
              <a:t>/Test Rail</a:t>
            </a:r>
            <a:r>
              <a:rPr sz="1600" b="1" i="0" dirty="0">
                <a:solidFill>
                  <a:srgbClr val="0A1A3B"/>
                </a:solidFill>
                <a:latin typeface="Calibri"/>
              </a:rPr>
              <a:t> Update</a:t>
            </a:r>
            <a:r>
              <a:rPr lang="en-US" sz="1600" b="1" i="0" dirty="0">
                <a:solidFill>
                  <a:srgbClr val="0A1A3B"/>
                </a:solidFill>
                <a:latin typeface="Calibri"/>
              </a:rPr>
              <a:t> -&gt; Report</a:t>
            </a:r>
            <a:endParaRPr sz="1600" b="1" i="0" dirty="0">
              <a:solidFill>
                <a:srgbClr val="0A1A3B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2" name="TextBox 31"/>
          <p:cNvSpPr txBox="1"/>
          <p:nvPr/>
        </p:nvSpPr>
        <p:spPr>
          <a:xfrm>
            <a:off x="182880" y="6565392"/>
            <a:ext cx="11823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8CC"/>
                </a:solidFill>
                <a:latin typeface="Calibri"/>
              </a:rPr>
              <a:t>© 2026 Ascendion  |  QE Circle Innovation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AI Engine &amp; LLM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7C00"/>
                </a:solidFill>
                <a:latin typeface="Calibri"/>
              </a:rPr>
              <a:t>Why powerful LLMs matter for deterministic automation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3200400"/>
          </a:xfrm>
          <a:prstGeom prst="rect">
            <a:avLst/>
          </a:prstGeom>
          <a:solidFill>
            <a:srgbClr val="0E2752"/>
          </a:solidFill>
          <a:ln w="2540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011680" cy="502920"/>
          </a:xfrm>
          <a:prstGeom prst="roundRect">
            <a:avLst>
              <a:gd name="adj" fmla="val 10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Claude Opus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19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5E0"/>
                </a:solidFill>
                <a:latin typeface="Calibri"/>
              </a:rPr>
              <a:t>Planning, complex reasoning, context-rich
test scenario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560320" cy="3200400"/>
          </a:xfrm>
          <a:prstGeom prst="rect">
            <a:avLst/>
          </a:prstGeom>
          <a:solidFill>
            <a:srgbClr val="0E2752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Rounded Rectangle 8"/>
          <p:cNvSpPr/>
          <p:nvPr/>
        </p:nvSpPr>
        <p:spPr>
          <a:xfrm>
            <a:off x="3566160" y="1508760"/>
            <a:ext cx="2011680" cy="50292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GPT-5.x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1945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5E0"/>
                </a:solidFill>
                <a:latin typeface="Calibri"/>
              </a:rPr>
              <a:t>Highly accurate POM code generation;
minimal hallucination on structured tasks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0E2752"/>
          </a:solidFill>
          <a:ln w="25400">
            <a:solidFill>
              <a:srgbClr val="06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Rounded Rectangle 11"/>
          <p:cNvSpPr/>
          <p:nvPr/>
        </p:nvSpPr>
        <p:spPr>
          <a:xfrm>
            <a:off x="6400800" y="1508760"/>
            <a:ext cx="2011680" cy="502920"/>
          </a:xfrm>
          <a:prstGeom prst="roundRect">
            <a:avLst>
              <a:gd name="adj" fmla="val 10000"/>
            </a:avLst>
          </a:prstGeom>
          <a:solidFill>
            <a:srgbClr val="066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Sonnet 4.6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48840"/>
            <a:ext cx="21945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5E0"/>
                </a:solidFill>
                <a:latin typeface="Calibri"/>
              </a:rPr>
              <a:t>Fast, cost-effective generation for
high-frequency healing and retry loops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371600"/>
            <a:ext cx="2560320" cy="3200400"/>
          </a:xfrm>
          <a:prstGeom prst="rect">
            <a:avLst/>
          </a:prstGeom>
          <a:solidFill>
            <a:srgbClr val="0E2752"/>
          </a:solidFill>
          <a:ln w="254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ounded Rectangle 14"/>
          <p:cNvSpPr/>
          <p:nvPr/>
        </p:nvSpPr>
        <p:spPr>
          <a:xfrm>
            <a:off x="9235440" y="1508760"/>
            <a:ext cx="2011680" cy="502920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Local LLM
(Ollama)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148840"/>
            <a:ext cx="2194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5E0"/>
                </a:solidFill>
                <a:latin typeface="Calibri"/>
              </a:rPr>
              <a:t>Offline / air-gapped mode;
gemma:4e4b or llama3.2 for CI environments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1274552" cy="777240"/>
          </a:xfrm>
          <a:prstGeom prst="rect">
            <a:avLst/>
          </a:prstGeom>
          <a:solidFill>
            <a:srgbClr val="0E2752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⚡  Using advanced models over older-generation LLMs reduces human rework, improves output determinism, and enables code generation that is production-ready on first attempt rather than requiring extensive manual correction.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182880" y="6565392"/>
            <a:ext cx="11823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8CC"/>
                </a:solidFill>
                <a:latin typeface="Calibri"/>
              </a:rPr>
              <a:t>© 2026 Ascendion  |  QE Circle Innovation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85800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Calibri"/>
              </a:rPr>
              <a:t>Guardrails, Quality Gates &amp; Self-Healing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539496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3B"/>
                </a:solidFill>
                <a:latin typeface="Calibri"/>
              </a:rPr>
              <a:t>🚫 No duplicate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512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Agent audits existing locators, pages, and specs before creating new files.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539496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411480" y="1993392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3B"/>
                </a:solidFill>
                <a:latin typeface="Calibri"/>
              </a:rPr>
              <a:t>📐 Framework conventions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59152"/>
            <a:ext cx="512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File naming, assertion rules, and import paths enforced by context files.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35224"/>
            <a:ext cx="539496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411480" y="2980944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3B"/>
                </a:solidFill>
                <a:latin typeface="Calibri"/>
              </a:rPr>
              <a:t>🏷️  TestRail traceability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46704"/>
            <a:ext cx="512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Every test title carries a [Cxxx] ID parsed by the reporter after execution.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22776"/>
            <a:ext cx="539496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411480" y="3968496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3B"/>
                </a:solidFill>
                <a:latin typeface="Calibri"/>
              </a:rPr>
              <a:t>🔒 Selector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334256"/>
            <a:ext cx="512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Priority: data-testid → role → text → CSS. XPath and coordinates blocked.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0328"/>
            <a:ext cx="539496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0A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TextBox 17"/>
          <p:cNvSpPr txBox="1"/>
          <p:nvPr/>
        </p:nvSpPr>
        <p:spPr>
          <a:xfrm>
            <a:off x="411480" y="4956048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A3B"/>
                </a:solidFill>
                <a:latin typeface="Calibri"/>
              </a:rPr>
              <a:t>🛡️  No raw selectors in specs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321808"/>
            <a:ext cx="512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Selectors must live in locator files. Specs call page-object methods only.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960120"/>
            <a:ext cx="594360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06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6080760" y="1005840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6F41"/>
                </a:solidFill>
                <a:latin typeface="Calibri"/>
              </a:rPr>
              <a:t>🔁 Self-healing selectors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371600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On failure: AI regenerates selector from live DOM and retries automatically.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947672"/>
            <a:ext cx="594360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06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6080760" y="1993392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6F41"/>
                </a:solidFill>
                <a:latin typeface="Calibri"/>
              </a:rPr>
              <a:t>📸 Failure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359152"/>
            <a:ext cx="5669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Screenshots, videos, and logs are fed to Healer Agent for root-cause analysis.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935224"/>
            <a:ext cx="594360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06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6080760" y="2980944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6F41"/>
                </a:solidFill>
                <a:latin typeface="Calibri"/>
              </a:rPr>
              <a:t>⏱️  Retry with updated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346704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Healer rewrites the failing assertion or action and re-executes the spec.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922776"/>
            <a:ext cx="594360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06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0" name="TextBox 29"/>
          <p:cNvSpPr txBox="1"/>
          <p:nvPr/>
        </p:nvSpPr>
        <p:spPr>
          <a:xfrm>
            <a:off x="6080760" y="3968496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6F41"/>
                </a:solidFill>
                <a:latin typeface="Calibri"/>
              </a:rPr>
              <a:t>📊 Flaky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334256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Logging reporter marks tests passing after ≥1 retry as [FLAKY] for review.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910328"/>
            <a:ext cx="594360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066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3" name="TextBox 32"/>
          <p:cNvSpPr txBox="1"/>
          <p:nvPr/>
        </p:nvSpPr>
        <p:spPr>
          <a:xfrm>
            <a:off x="6080760" y="4956048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6F41"/>
                </a:solidFill>
                <a:latin typeface="Calibri"/>
              </a:rPr>
              <a:t>🔄 CI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5321808"/>
            <a:ext cx="5669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GitHub Actions smoke + regression on every push; TestRail results auto-posted.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TextBox 35"/>
          <p:cNvSpPr txBox="1"/>
          <p:nvPr/>
        </p:nvSpPr>
        <p:spPr>
          <a:xfrm>
            <a:off x="182880" y="6565392"/>
            <a:ext cx="11823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8CC"/>
                </a:solidFill>
                <a:latin typeface="Calibri"/>
              </a:rPr>
              <a:t>© 2026 Ascendion  |  QE Circle Innovation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85800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Calibri"/>
              </a:rPr>
              <a:t>Client Demonstrations &amp; Reception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347472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868680"/>
            <a:ext cx="3474720" cy="685800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Calibri"/>
              </a:rPr>
              <a:t>StarHub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1176" y="941832"/>
            <a:ext cx="1335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dirty="0">
                <a:solidFill>
                  <a:srgbClr val="F57C00"/>
                </a:solidFill>
                <a:latin typeface="Calibri"/>
              </a:rPr>
              <a:t>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6B7280"/>
                </a:solidFill>
                <a:latin typeface="Calibri"/>
              </a:rPr>
              <a:t>Tech stack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F2937"/>
                </a:solidFill>
                <a:latin typeface="Calibri"/>
              </a:rPr>
              <a:t>Telco e-commerce SPA
Mobile device purchase flow
Chromium + dynamic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66F41"/>
                </a:solidFill>
                <a:latin typeface="Calibri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F2937"/>
                </a:solidFill>
                <a:latin typeface="Calibri"/>
              </a:rPr>
              <a:t>Positive feedback on selector
resilience and POM reuse.
POC discussion initiated.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868680"/>
            <a:ext cx="347472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868680"/>
            <a:ext cx="3474720" cy="685800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896112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Calibri"/>
              </a:rPr>
              <a:t>UnionDigital 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60" y="911721"/>
            <a:ext cx="1348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dirty="0">
                <a:solidFill>
                  <a:srgbClr val="F57C00"/>
                </a:solidFill>
                <a:latin typeface="Calibri"/>
              </a:rPr>
              <a:t>Philippines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64592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6B7280"/>
                </a:solidFill>
                <a:latin typeface="Calibri"/>
              </a:rPr>
              <a:t>Tech stack &amp;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92024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F2937"/>
                </a:solidFill>
                <a:latin typeface="Calibri"/>
              </a:rPr>
              <a:t>BSP-licensed digital bank
Next.js mobile-first website
Multi-lang (EN/FIL)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42900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66F41"/>
                </a:solidFill>
                <a:latin typeface="Calibri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70332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F2937"/>
                </a:solidFill>
                <a:latin typeface="Calibri"/>
              </a:rPr>
              <a:t>Appreciated traceability from
AC → TestRail → spec.
Brownfield agent adopted.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868680"/>
            <a:ext cx="347472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868680"/>
            <a:ext cx="3474720" cy="685800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896112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Calibri"/>
              </a:rPr>
              <a:t>OCBC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8380" y="941832"/>
            <a:ext cx="1577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dirty="0">
                <a:solidFill>
                  <a:srgbClr val="F57C00"/>
                </a:solidFill>
                <a:latin typeface="Calibri"/>
              </a:rPr>
              <a:t>Singapore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64592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6B7280"/>
                </a:solidFill>
                <a:latin typeface="Calibri"/>
              </a:rPr>
              <a:t>Tech stack &amp;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92024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F2937"/>
                </a:solidFill>
                <a:latin typeface="Calibri"/>
              </a:rPr>
              <a:t>Enterprise banking platform
API &amp; UI coverage
Strict compliance requirements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42900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66F41"/>
                </a:solidFill>
                <a:latin typeface="Calibri"/>
              </a:rPr>
              <a:t>Outcome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70332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1F2937"/>
                </a:solidFill>
                <a:latin typeface="Calibri"/>
              </a:rPr>
              <a:t>Guardrails and governance
model highlighted as key
differentiator.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806440"/>
            <a:ext cx="11457432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870448"/>
            <a:ext cx="11091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66F41"/>
                </a:solidFill>
                <a:latin typeface="Calibri"/>
              </a:rPr>
              <a:t>✅  Multiple clients have expressed interest to implement this framework in their own environments — POC engagements are in progress.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65392"/>
            <a:ext cx="11823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B0B8CC"/>
                </a:solidFill>
                <a:latin typeface="Calibri"/>
              </a:rPr>
              <a:t>© 2026 Ascendion  |  QE Circle Innovation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85800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Results &amp;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474720" cy="228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94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7C00"/>
                </a:solidFill>
                <a:latin typeface="Calibr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88720"/>
            <a:ext cx="2651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3B"/>
                </a:solidFill>
                <a:latin typeface="Calibri"/>
              </a:rPr>
              <a:t>Requirement to
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3200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F2937"/>
                </a:solidFill>
                <a:latin typeface="Calibri"/>
              </a:rPr>
              <a:t>Reduced test design-to-script cycle</a:t>
            </a:r>
            <a:r>
              <a:rPr lang="en-US" sz="2000" b="0" i="0" dirty="0">
                <a:solidFill>
                  <a:srgbClr val="1F2937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1F2937"/>
                </a:solidFill>
                <a:latin typeface="Calibri"/>
              </a:rPr>
              <a:t>from days to hours using agentic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005840"/>
            <a:ext cx="3474720" cy="228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160520" y="1143000"/>
            <a:ext cx="594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7C00"/>
                </a:solidFill>
                <a:latin typeface="Calibri"/>
              </a:rPr>
              <a:t>♻️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188720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3B"/>
                </a:solidFill>
                <a:latin typeface="Calibri"/>
              </a:rPr>
              <a:t>Asset Reuse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828800"/>
            <a:ext cx="3200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F2937"/>
                </a:solidFill>
                <a:latin typeface="Calibri"/>
              </a:rPr>
              <a:t>POM-first design prevents duplication;
existing locators reused across stories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005840"/>
            <a:ext cx="3474720" cy="228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7863840" y="1143000"/>
            <a:ext cx="594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7C00"/>
                </a:solidFill>
                <a:latin typeface="Calibri"/>
              </a:rPr>
              <a:t>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188720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3B"/>
                </a:solidFill>
                <a:latin typeface="Calibri"/>
              </a:rPr>
              <a:t>Self-Healing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828800"/>
            <a:ext cx="3200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Failing selectors auto-repaired;
reduced manual triage significantly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3474720" cy="228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457200" y="3611880"/>
            <a:ext cx="594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7C00"/>
                </a:solidFill>
                <a:latin typeface="Calibri"/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57600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3B"/>
                </a:solidFill>
                <a:latin typeface="Calibri"/>
              </a:rPr>
              <a:t>Traceability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3200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F2937"/>
                </a:solidFill>
                <a:latin typeface="Calibri"/>
              </a:rPr>
              <a:t>100% of generated tests carry</a:t>
            </a:r>
            <a:r>
              <a:rPr lang="en-US" sz="2000" b="0" i="0" dirty="0">
                <a:solidFill>
                  <a:srgbClr val="1F2937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1F2937"/>
                </a:solidFill>
                <a:latin typeface="Calibri"/>
              </a:rPr>
              <a:t>[</a:t>
            </a:r>
            <a:r>
              <a:rPr sz="2000" b="0" i="0" dirty="0" err="1">
                <a:solidFill>
                  <a:srgbClr val="1F2937"/>
                </a:solidFill>
                <a:latin typeface="Calibri"/>
              </a:rPr>
              <a:t>Cxxx</a:t>
            </a:r>
            <a:r>
              <a:rPr sz="2000" b="0" i="0" dirty="0">
                <a:solidFill>
                  <a:srgbClr val="1F2937"/>
                </a:solidFill>
                <a:latin typeface="Calibri"/>
              </a:rPr>
              <a:t>] TestRail case 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3474720"/>
            <a:ext cx="3474720" cy="228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4160520" y="3611880"/>
            <a:ext cx="594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7C00"/>
                </a:solidFill>
                <a:latin typeface="Calibri"/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657600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3B"/>
                </a:solidFill>
                <a:latin typeface="Calibri"/>
              </a:rPr>
              <a:t>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297680"/>
            <a:ext cx="3200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F2937"/>
                </a:solidFill>
                <a:latin typeface="Calibri"/>
              </a:rPr>
              <a:t>Web + API + Mobile unified in</a:t>
            </a:r>
            <a:r>
              <a:rPr lang="en-US" sz="2000" b="0" i="0" dirty="0">
                <a:solidFill>
                  <a:srgbClr val="1F2937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1F2937"/>
                </a:solidFill>
                <a:latin typeface="Calibri"/>
              </a:rPr>
              <a:t>one framework, one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474720"/>
            <a:ext cx="3474720" cy="2286000"/>
          </a:xfrm>
          <a:prstGeom prst="rect">
            <a:avLst/>
          </a:prstGeom>
          <a:solidFill>
            <a:srgbClr val="F4F6F9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7863840" y="3611880"/>
            <a:ext cx="594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7C00"/>
                </a:solidFill>
                <a:latin typeface="Calibri"/>
              </a:rPr>
              <a:t>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657600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3B"/>
                </a:solidFill>
                <a:latin typeface="Calibri"/>
              </a:rPr>
              <a:t>Client Interest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297680"/>
            <a:ext cx="3200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3+ clients demonstrated;
POC conversations started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182880" y="6565392"/>
            <a:ext cx="11823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B8CC"/>
                </a:solidFill>
                <a:latin typeface="Calibri"/>
              </a:rPr>
              <a:t>© 2026 Ascendion  |  QE Circle Innovation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One Framework.
Agentic. Governed. Self-Healing.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25283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F57C00"/>
                </a:solidFill>
                <a:latin typeface="Calibri"/>
              </a:rPr>
              <a:t>Ready to scale across </a:t>
            </a:r>
            <a:r>
              <a:rPr sz="1600" b="0" i="1" dirty="0" err="1">
                <a:solidFill>
                  <a:srgbClr val="F57C00"/>
                </a:solidFill>
                <a:latin typeface="Calibri"/>
              </a:rPr>
              <a:t>Ascendion</a:t>
            </a:r>
            <a:r>
              <a:rPr sz="1600" b="0" i="1" dirty="0">
                <a:solidFill>
                  <a:srgbClr val="F57C00"/>
                </a:solidFill>
                <a:latin typeface="Calibri"/>
              </a:rPr>
              <a:t> client engagements.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45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4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7C00"/>
                </a:solidFill>
                <a:latin typeface="Calibri"/>
              </a:rPr>
              <a:t>Adopt in client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59253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5E0"/>
                </a:solidFill>
                <a:latin typeface="Calibri"/>
              </a:rPr>
              <a:t>Re-use context + agent structure for any web / mobile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17720"/>
            <a:ext cx="45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7C00"/>
                </a:solidFill>
                <a:latin typeface="Calibri"/>
              </a:rPr>
              <a:t>Submit to Agentic AI Champion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49286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5E0"/>
                </a:solidFill>
                <a:latin typeface="Calibri"/>
              </a:rPr>
              <a:t>Nomination backed by 3</a:t>
            </a:r>
            <a:r>
              <a:rPr lang="en-US" sz="1600" b="0" i="0" dirty="0">
                <a:solidFill>
                  <a:srgbClr val="CCD5E0"/>
                </a:solidFill>
                <a:latin typeface="Calibri"/>
              </a:rPr>
              <a:t>+</a:t>
            </a:r>
            <a:r>
              <a:rPr sz="1600" b="0" i="0" dirty="0">
                <a:solidFill>
                  <a:srgbClr val="CCD5E0"/>
                </a:solidFill>
                <a:latin typeface="Calibri"/>
              </a:rPr>
              <a:t> client demos and POC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45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4924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7C00"/>
                </a:solidFill>
                <a:latin typeface="Calibri"/>
              </a:rPr>
              <a:t>Engage QE Circle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669280"/>
            <a:ext cx="49286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5E0"/>
                </a:solidFill>
                <a:latin typeface="Calibri"/>
              </a:rPr>
              <a:t>Share framework as a reusable </a:t>
            </a:r>
            <a:r>
              <a:rPr sz="1600" b="0" i="0" dirty="0" err="1">
                <a:solidFill>
                  <a:srgbClr val="CCD5E0"/>
                </a:solidFill>
                <a:latin typeface="Calibri"/>
              </a:rPr>
              <a:t>Ascendion</a:t>
            </a:r>
            <a:r>
              <a:rPr sz="1600" b="0" i="0" dirty="0">
                <a:solidFill>
                  <a:srgbClr val="CCD5E0"/>
                </a:solidFill>
                <a:latin typeface="Calibri"/>
              </a:rPr>
              <a:t> QE accelerator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1371600"/>
            <a:ext cx="3154680" cy="3657600"/>
          </a:xfrm>
          <a:prstGeom prst="rect">
            <a:avLst/>
          </a:prstGeom>
          <a:solidFill>
            <a:srgbClr val="0E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9098280" y="150876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7C00"/>
                </a:solidFill>
                <a:latin typeface="Calibri"/>
              </a:rPr>
              <a:t>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65960"/>
            <a:ext cx="2743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5E0"/>
                </a:solidFill>
                <a:latin typeface="Calibri"/>
              </a:rPr>
              <a:t>Viplove</a:t>
            </a:r>
            <a:r>
              <a:rPr lang="en-US" sz="1600" b="0" i="0" dirty="0">
                <a:solidFill>
                  <a:srgbClr val="CCD5E0"/>
                </a:solidFill>
                <a:latin typeface="Calibri"/>
              </a:rPr>
              <a:t> Bisen</a:t>
            </a:r>
            <a:r>
              <a:rPr sz="1600" b="0" i="0" dirty="0">
                <a:solidFill>
                  <a:srgbClr val="CCD5E0"/>
                </a:solidFill>
                <a:latin typeface="Calibri"/>
              </a:rPr>
              <a:t>
</a:t>
            </a:r>
            <a:r>
              <a:rPr sz="1600" b="0" i="0" dirty="0" err="1">
                <a:solidFill>
                  <a:srgbClr val="CCD5E0"/>
                </a:solidFill>
                <a:latin typeface="Calibri"/>
              </a:rPr>
              <a:t>Ascendion</a:t>
            </a:r>
            <a:r>
              <a:rPr sz="1600" b="0" i="0" dirty="0">
                <a:solidFill>
                  <a:srgbClr val="CCD5E0"/>
                </a:solidFill>
                <a:latin typeface="Calibri"/>
              </a:rPr>
              <a:t> QE Circle
GitHub: Ascen-</a:t>
            </a:r>
            <a:r>
              <a:rPr sz="1600" b="0" i="0" dirty="0" err="1">
                <a:solidFill>
                  <a:srgbClr val="CCD5E0"/>
                </a:solidFill>
                <a:latin typeface="Calibri"/>
              </a:rPr>
              <a:t>dion</a:t>
            </a:r>
            <a:r>
              <a:rPr sz="1600" b="0" i="0" dirty="0">
                <a:solidFill>
                  <a:srgbClr val="CCD5E0"/>
                </a:solidFill>
                <a:latin typeface="Calibri"/>
              </a:rPr>
              <a:t>
</a:t>
            </a:r>
            <a:r>
              <a:rPr sz="1600" b="0" i="0" dirty="0" err="1">
                <a:solidFill>
                  <a:srgbClr val="CCD5E0"/>
                </a:solidFill>
                <a:latin typeface="Calibri"/>
              </a:rPr>
              <a:t>poc_mobile_automation_mobile_wright</a:t>
            </a:r>
            <a:endParaRPr sz="1600" b="0" i="0" dirty="0">
              <a:solidFill>
                <a:srgbClr val="CCD5E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98280" y="3931920"/>
            <a:ext cx="274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7C00"/>
                </a:solidFill>
                <a:latin typeface="Calibri"/>
              </a:rPr>
              <a:t>github.com/Ascen-dion/
AI-Assisted-Playwright-Automation-Framework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182880" y="6565392"/>
            <a:ext cx="11823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8CC"/>
                </a:solidFill>
                <a:latin typeface="Calibri"/>
              </a:rPr>
              <a:t>© 2026 Ascendion  |  QE Circle Innovation  |  Confidential</a:t>
            </a:r>
          </a:p>
        </p:txBody>
      </p:sp>
      <p:pic>
        <p:nvPicPr>
          <p:cNvPr id="1026" name="Picture 2" descr="Who we are | Ascendion">
            <a:extLst>
              <a:ext uri="{FF2B5EF4-FFF2-40B4-BE49-F238E27FC236}">
                <a16:creationId xmlns:a16="http://schemas.microsoft.com/office/drawing/2014/main" id="{972C71FD-FA29-0BFC-F13C-38ABBD501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496" y="2443028"/>
            <a:ext cx="3950208" cy="1662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1293</Words>
  <Application>Microsoft Office PowerPoint</Application>
  <PresentationFormat>Custom</PresentationFormat>
  <Paragraphs>188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Bisen, Viplove (CW)</cp:lastModifiedBy>
  <cp:revision>5</cp:revision>
  <dcterms:created xsi:type="dcterms:W3CDTF">2013-01-27T09:14:16Z</dcterms:created>
  <dcterms:modified xsi:type="dcterms:W3CDTF">2026-05-06T14:30:54Z</dcterms:modified>
  <cp:category/>
</cp:coreProperties>
</file>